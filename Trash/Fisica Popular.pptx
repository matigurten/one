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6" r:id="rId3"/>
    <p:sldId id="265" r:id="rId4"/>
    <p:sldId id="257" r:id="rId5"/>
    <p:sldId id="262" r:id="rId6"/>
    <p:sldId id="258" r:id="rId7"/>
    <p:sldId id="263" r:id="rId8"/>
    <p:sldId id="264" r:id="rId9"/>
    <p:sldId id="259" r:id="rId10"/>
    <p:sldId id="261" r:id="rId11"/>
    <p:sldId id="267" r:id="rId12"/>
    <p:sldId id="268" r:id="rId13"/>
    <p:sldId id="279" r:id="rId14"/>
    <p:sldId id="269" r:id="rId15"/>
    <p:sldId id="270" r:id="rId16"/>
    <p:sldId id="260" r:id="rId17"/>
    <p:sldId id="271" r:id="rId18"/>
    <p:sldId id="272" r:id="rId19"/>
    <p:sldId id="273" r:id="rId20"/>
    <p:sldId id="274" r:id="rId21"/>
    <p:sldId id="276" r:id="rId22"/>
    <p:sldId id="275" r:id="rId23"/>
    <p:sldId id="277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55418" autoAdjust="0"/>
  </p:normalViewPr>
  <p:slideViewPr>
    <p:cSldViewPr>
      <p:cViewPr varScale="1">
        <p:scale>
          <a:sx n="79" d="100"/>
          <a:sy n="79" d="100"/>
        </p:scale>
        <p:origin x="-8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ataVirtuality\Dropbox\GurtenGlobal\LaCasaDelFisico\FPPF\Book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Altura (cm)</c:v>
                </c:pt>
              </c:strCache>
            </c:strRef>
          </c:tx>
          <c:xVal>
            <c:numRef>
              <c:f>Sheet1!$C$2:$C$6</c:f>
              <c:numCache>
                <c:formatCode>General</c:formatCode>
                <c:ptCount val="5"/>
                <c:pt idx="0">
                  <c:v>110</c:v>
                </c:pt>
                <c:pt idx="1">
                  <c:v>120</c:v>
                </c:pt>
                <c:pt idx="2">
                  <c:v>130</c:v>
                </c:pt>
                <c:pt idx="3">
                  <c:v>140</c:v>
                </c:pt>
                <c:pt idx="4">
                  <c:v>150</c:v>
                </c:pt>
              </c:numCache>
            </c:numRef>
          </c:xVal>
          <c:yVal>
            <c:numRef>
              <c:f>Sheet1!$E$2:$E$6</c:f>
              <c:numCache>
                <c:formatCode>0</c:formatCode>
                <c:ptCount val="5"/>
                <c:pt idx="0">
                  <c:v>36.446280991735534</c:v>
                </c:pt>
                <c:pt idx="1">
                  <c:v>30.625000000000004</c:v>
                </c:pt>
                <c:pt idx="2">
                  <c:v>26.094674556213022</c:v>
                </c:pt>
                <c:pt idx="3">
                  <c:v>22.5</c:v>
                </c:pt>
                <c:pt idx="4">
                  <c:v>19.600000000000005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5329280"/>
        <c:axId val="285330816"/>
      </c:scatterChart>
      <c:scatterChart>
        <c:scatterStyle val="lineMarker"/>
        <c:varyColors val="0"/>
        <c:ser>
          <c:idx val="1"/>
          <c:order val="1"/>
          <c:tx>
            <c:strRef>
              <c:f>Sheet1!$F$1</c:f>
              <c:strCache>
                <c:ptCount val="1"/>
                <c:pt idx="0">
                  <c:v>Energia</c:v>
                </c:pt>
              </c:strCache>
            </c:strRef>
          </c:tx>
          <c:xVal>
            <c:numRef>
              <c:f>Sheet1!$C$2:$C$6</c:f>
              <c:numCache>
                <c:formatCode>General</c:formatCode>
                <c:ptCount val="5"/>
                <c:pt idx="0">
                  <c:v>110</c:v>
                </c:pt>
                <c:pt idx="1">
                  <c:v>120</c:v>
                </c:pt>
                <c:pt idx="2">
                  <c:v>130</c:v>
                </c:pt>
                <c:pt idx="3">
                  <c:v>140</c:v>
                </c:pt>
                <c:pt idx="4">
                  <c:v>150</c:v>
                </c:pt>
              </c:numCache>
            </c:numRef>
          </c:xVal>
          <c:yVal>
            <c:numRef>
              <c:f>Sheet1!$F$2:$F$6</c:f>
              <c:numCache>
                <c:formatCode>0.00</c:formatCode>
                <c:ptCount val="5"/>
                <c:pt idx="0">
                  <c:v>0.91666666666666663</c:v>
                </c:pt>
                <c:pt idx="1">
                  <c:v>1</c:v>
                </c:pt>
                <c:pt idx="2">
                  <c:v>1.0833333333333333</c:v>
                </c:pt>
                <c:pt idx="3">
                  <c:v>1.1666666666666667</c:v>
                </c:pt>
                <c:pt idx="4">
                  <c:v>1.25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8770688"/>
        <c:axId val="288769152"/>
      </c:scatterChart>
      <c:valAx>
        <c:axId val="285329280"/>
        <c:scaling>
          <c:orientation val="minMax"/>
          <c:max val="160"/>
          <c:min val="100"/>
        </c:scaling>
        <c:delete val="0"/>
        <c:axPos val="b"/>
        <c:numFmt formatCode="General" sourceLinked="1"/>
        <c:majorTickMark val="out"/>
        <c:minorTickMark val="none"/>
        <c:tickLblPos val="nextTo"/>
        <c:crossAx val="285330816"/>
        <c:crosses val="autoZero"/>
        <c:crossBetween val="midCat"/>
      </c:valAx>
      <c:valAx>
        <c:axId val="285330816"/>
        <c:scaling>
          <c:orientation val="minMax"/>
          <c:min val="15"/>
        </c:scaling>
        <c:delete val="0"/>
        <c:axPos val="l"/>
        <c:majorGridlines/>
        <c:numFmt formatCode="0" sourceLinked="1"/>
        <c:majorTickMark val="out"/>
        <c:minorTickMark val="none"/>
        <c:tickLblPos val="nextTo"/>
        <c:crossAx val="285329280"/>
        <c:crosses val="autoZero"/>
        <c:crossBetween val="midCat"/>
      </c:valAx>
      <c:valAx>
        <c:axId val="288769152"/>
        <c:scaling>
          <c:orientation val="minMax"/>
          <c:min val="0.9"/>
        </c:scaling>
        <c:delete val="0"/>
        <c:axPos val="r"/>
        <c:numFmt formatCode="0.00" sourceLinked="1"/>
        <c:majorTickMark val="out"/>
        <c:minorTickMark val="none"/>
        <c:tickLblPos val="nextTo"/>
        <c:crossAx val="288770688"/>
        <c:crosses val="max"/>
        <c:crossBetween val="midCat"/>
      </c:valAx>
      <c:valAx>
        <c:axId val="28877068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876915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CC1-BCA6-4AF4-AAF7-5F2D840D542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38F6D-7538-4089-946A-0DD013A50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3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M" dirty="0" smtClean="0"/>
              <a:t>Que </a:t>
            </a:r>
            <a:r>
              <a:rPr lang="en-JM" dirty="0" err="1" smtClean="0"/>
              <a:t>es</a:t>
            </a:r>
            <a:r>
              <a:rPr lang="en-JM" dirty="0" smtClean="0"/>
              <a:t> </a:t>
            </a:r>
            <a:r>
              <a:rPr lang="en-JM" dirty="0" err="1" smtClean="0"/>
              <a:t>ciencia</a:t>
            </a:r>
            <a:r>
              <a:rPr lang="en-JM" dirty="0" smtClean="0"/>
              <a:t>? </a:t>
            </a:r>
            <a:r>
              <a:rPr lang="en-JM" baseline="0" dirty="0" smtClean="0"/>
              <a:t>Si </a:t>
            </a:r>
            <a:r>
              <a:rPr lang="en-JM" baseline="0" dirty="0" err="1" smtClean="0"/>
              <a:t>todos</a:t>
            </a:r>
            <a:r>
              <a:rPr lang="en-JM" baseline="0" dirty="0" smtClean="0"/>
              <a:t> </a:t>
            </a:r>
            <a:r>
              <a:rPr lang="en-JM" baseline="0" dirty="0" err="1" smtClean="0"/>
              <a:t>libros</a:t>
            </a:r>
            <a:r>
              <a:rPr lang="en-JM" baseline="0" dirty="0" smtClean="0"/>
              <a:t> </a:t>
            </a:r>
            <a:r>
              <a:rPr lang="en-JM" baseline="0" dirty="0" err="1" smtClean="0"/>
              <a:t>desaparecieran</a:t>
            </a:r>
            <a:r>
              <a:rPr lang="en-JM" baseline="0" dirty="0" smtClean="0"/>
              <a:t> </a:t>
            </a:r>
            <a:r>
              <a:rPr lang="en-JM" baseline="0" dirty="0" err="1" smtClean="0"/>
              <a:t>maniana</a:t>
            </a:r>
            <a:r>
              <a:rPr lang="en-JM" baseline="0" dirty="0" smtClean="0"/>
              <a:t>, se </a:t>
            </a:r>
            <a:r>
              <a:rPr lang="en-JM" baseline="0" dirty="0" err="1" smtClean="0"/>
              <a:t>escribirian</a:t>
            </a:r>
            <a:r>
              <a:rPr lang="en-JM" baseline="0" dirty="0" smtClean="0"/>
              <a:t> </a:t>
            </a:r>
            <a:r>
              <a:rPr lang="en-JM" baseline="0" dirty="0" err="1" smtClean="0"/>
              <a:t>libros</a:t>
            </a:r>
            <a:r>
              <a:rPr lang="en-JM" baseline="0" dirty="0" smtClean="0"/>
              <a:t> </a:t>
            </a:r>
            <a:r>
              <a:rPr lang="en-JM" baseline="0" dirty="0" err="1" smtClean="0"/>
              <a:t>nuevos</a:t>
            </a:r>
            <a:r>
              <a:rPr lang="en-JM" baseline="0" dirty="0" smtClean="0"/>
              <a:t>. Los de </a:t>
            </a:r>
            <a:r>
              <a:rPr lang="en-JM" baseline="0" dirty="0" err="1" smtClean="0"/>
              <a:t>ciencia</a:t>
            </a:r>
            <a:r>
              <a:rPr lang="en-JM" baseline="0" dirty="0" smtClean="0"/>
              <a:t> </a:t>
            </a:r>
            <a:r>
              <a:rPr lang="en-JM" baseline="0" dirty="0" err="1" smtClean="0"/>
              <a:t>dirian</a:t>
            </a:r>
            <a:r>
              <a:rPr lang="en-JM" baseline="0" dirty="0" smtClean="0"/>
              <a:t> </a:t>
            </a:r>
            <a:r>
              <a:rPr lang="en-JM" baseline="0" dirty="0" err="1" smtClean="0"/>
              <a:t>exactamente</a:t>
            </a:r>
            <a:r>
              <a:rPr lang="en-JM" baseline="0" dirty="0" smtClean="0"/>
              <a:t> lo </a:t>
            </a:r>
            <a:r>
              <a:rPr lang="en-JM" baseline="0" dirty="0" err="1" smtClean="0"/>
              <a:t>mismo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038F6D-7538-4089-946A-0DD013A502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02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85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31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49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12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61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02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1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9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08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9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8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6C898-DF81-4C89-AEF9-814A7335A36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3AD41-1B07-4B41-812C-ED35EAFB2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5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Excel_Worksheet1.xlsx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2776"/>
            <a:ext cx="7772400" cy="2592287"/>
          </a:xfrm>
        </p:spPr>
        <p:txBody>
          <a:bodyPr>
            <a:normAutofit fontScale="90000"/>
          </a:bodyPr>
          <a:lstStyle/>
          <a:p>
            <a:r>
              <a:rPr lang="es-AR" dirty="0" err="1" smtClean="0"/>
              <a:t>Fisica</a:t>
            </a:r>
            <a:r>
              <a:rPr lang="es-AR" dirty="0" smtClean="0"/>
              <a:t> Popular</a:t>
            </a:r>
            <a:br>
              <a:rPr lang="es-AR" dirty="0" smtClean="0"/>
            </a:br>
            <a:r>
              <a:rPr lang="es-AR" dirty="0" smtClean="0"/>
              <a:t/>
            </a:r>
            <a:br>
              <a:rPr lang="es-AR" dirty="0" smtClean="0"/>
            </a:br>
            <a:r>
              <a:rPr lang="es-AR" smtClean="0"/>
              <a:t>Para Fiestas</a:t>
            </a:r>
            <a:r>
              <a:rPr lang="es-AR" dirty="0" smtClean="0"/>
              <a:t/>
            </a:r>
            <a:br>
              <a:rPr lang="es-AR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 dirty="0"/>
          </a:p>
          <a:p>
            <a:pPr algn="r"/>
            <a:r>
              <a:rPr lang="es-AR" dirty="0" smtClean="0"/>
              <a:t>DJ </a:t>
            </a:r>
            <a:r>
              <a:rPr lang="es-AR" dirty="0" err="1" smtClean="0"/>
              <a:t>Fisico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36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err="1" smtClean="0"/>
              <a:t>Quien</a:t>
            </a:r>
            <a:r>
              <a:rPr lang="en-JM" dirty="0" smtClean="0"/>
              <a:t> soy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JM" dirty="0" err="1" smtClean="0"/>
              <a:t>Yo</a:t>
            </a:r>
            <a:r>
              <a:rPr lang="en-JM" dirty="0" smtClean="0"/>
              <a:t> soy Mati</a:t>
            </a:r>
          </a:p>
          <a:p>
            <a:endParaRPr lang="en-JM" dirty="0" smtClean="0"/>
          </a:p>
          <a:p>
            <a:r>
              <a:rPr lang="en-JM" dirty="0" smtClean="0"/>
              <a:t>Me </a:t>
            </a:r>
            <a:r>
              <a:rPr lang="en-JM" dirty="0" err="1" smtClean="0"/>
              <a:t>dicen</a:t>
            </a:r>
            <a:r>
              <a:rPr lang="en-JM" dirty="0" smtClean="0"/>
              <a:t> el </a:t>
            </a:r>
            <a:r>
              <a:rPr lang="en-JM" dirty="0" err="1" smtClean="0"/>
              <a:t>Fisico</a:t>
            </a:r>
            <a:endParaRPr lang="en-JM" dirty="0" smtClean="0"/>
          </a:p>
          <a:p>
            <a:endParaRPr lang="en-JM" dirty="0" smtClean="0"/>
          </a:p>
          <a:p>
            <a:r>
              <a:rPr lang="en-JM" dirty="0" err="1" smtClean="0"/>
              <a:t>Amo</a:t>
            </a:r>
            <a:r>
              <a:rPr lang="en-JM" dirty="0" smtClean="0"/>
              <a:t> el </a:t>
            </a:r>
            <a:r>
              <a:rPr lang="en-JM" dirty="0" err="1" smtClean="0"/>
              <a:t>Psytrance</a:t>
            </a:r>
            <a:endParaRPr lang="en-JM" dirty="0" smtClean="0"/>
          </a:p>
          <a:p>
            <a:endParaRPr lang="en-JM" dirty="0" smtClean="0"/>
          </a:p>
          <a:p>
            <a:r>
              <a:rPr lang="en-JM" dirty="0" smtClean="0"/>
              <a:t>Me </a:t>
            </a:r>
            <a:r>
              <a:rPr lang="en-JM" dirty="0" err="1" smtClean="0"/>
              <a:t>distraigo</a:t>
            </a:r>
            <a:r>
              <a:rPr lang="en-JM" dirty="0" smtClean="0"/>
              <a:t> </a:t>
            </a:r>
            <a:r>
              <a:rPr lang="en-JM" dirty="0" err="1" smtClean="0"/>
              <a:t>cuando</a:t>
            </a:r>
            <a:r>
              <a:rPr lang="en-JM" dirty="0" smtClean="0"/>
              <a:t> me </a:t>
            </a:r>
            <a:r>
              <a:rPr lang="en-JM" dirty="0" err="1" smtClean="0"/>
              <a:t>interrumpen</a:t>
            </a:r>
            <a:endParaRPr lang="en-JM" dirty="0" smtClean="0"/>
          </a:p>
        </p:txBody>
      </p:sp>
    </p:spTree>
    <p:extLst>
      <p:ext uri="{BB962C8B-B14F-4D97-AF65-F5344CB8AC3E}">
        <p14:creationId xmlns:p14="http://schemas.microsoft.com/office/powerpoint/2010/main" val="110760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smtClean="0"/>
              <a:t>De que </a:t>
            </a:r>
            <a:r>
              <a:rPr lang="en-JM" dirty="0" err="1" smtClean="0"/>
              <a:t>voy</a:t>
            </a:r>
            <a:r>
              <a:rPr lang="en-JM" dirty="0" smtClean="0"/>
              <a:t> a </a:t>
            </a:r>
            <a:r>
              <a:rPr lang="en-JM" dirty="0" err="1" smtClean="0"/>
              <a:t>hablar</a:t>
            </a:r>
            <a:r>
              <a:rPr lang="en-JM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JM" dirty="0" smtClean="0"/>
          </a:p>
          <a:p>
            <a:r>
              <a:rPr lang="en-JM" dirty="0" smtClean="0"/>
              <a:t>Intro a la </a:t>
            </a:r>
            <a:r>
              <a:rPr lang="en-JM" dirty="0" err="1" smtClean="0"/>
              <a:t>fisica</a:t>
            </a:r>
            <a:endParaRPr lang="en-JM" dirty="0" smtClean="0"/>
          </a:p>
          <a:p>
            <a:pPr>
              <a:buFontTx/>
              <a:buChar char="-"/>
            </a:pPr>
            <a:r>
              <a:rPr lang="en-JM" dirty="0" smtClean="0"/>
              <a:t>Penny can you teach me “a little physics?”</a:t>
            </a:r>
          </a:p>
          <a:p>
            <a:pPr>
              <a:buFontTx/>
              <a:buChar char="-"/>
            </a:pPr>
            <a:endParaRPr lang="en-JM" dirty="0"/>
          </a:p>
          <a:p>
            <a:r>
              <a:rPr lang="en-JM" dirty="0" err="1" smtClean="0"/>
              <a:t>Generos</a:t>
            </a:r>
            <a:r>
              <a:rPr lang="en-JM" dirty="0" smtClean="0"/>
              <a:t> de </a:t>
            </a:r>
            <a:r>
              <a:rPr lang="en-JM" dirty="0" err="1" smtClean="0"/>
              <a:t>musica</a:t>
            </a:r>
            <a:r>
              <a:rPr lang="en-JM" dirty="0" smtClean="0"/>
              <a:t> electronica y la </a:t>
            </a:r>
            <a:r>
              <a:rPr lang="en-JM" dirty="0" err="1" smtClean="0"/>
              <a:t>resonancia</a:t>
            </a:r>
            <a:endParaRPr lang="en-JM" dirty="0" smtClean="0"/>
          </a:p>
          <a:p>
            <a:pPr>
              <a:buFontTx/>
              <a:buChar char="-"/>
            </a:pPr>
            <a:endParaRPr lang="en-JM" dirty="0"/>
          </a:p>
          <a:p>
            <a:r>
              <a:rPr lang="en-JM" dirty="0" smtClean="0"/>
              <a:t>Como </a:t>
            </a:r>
            <a:r>
              <a:rPr lang="en-JM" dirty="0" err="1" smtClean="0"/>
              <a:t>medir</a:t>
            </a:r>
            <a:r>
              <a:rPr lang="en-JM" dirty="0" smtClean="0"/>
              <a:t> </a:t>
            </a:r>
            <a:r>
              <a:rPr lang="en-JM" dirty="0" err="1" smtClean="0"/>
              <a:t>una</a:t>
            </a:r>
            <a:r>
              <a:rPr lang="en-JM" dirty="0" smtClean="0"/>
              <a:t> fiesta</a:t>
            </a:r>
          </a:p>
          <a:p>
            <a:endParaRPr lang="en-JM" dirty="0" smtClean="0"/>
          </a:p>
          <a:p>
            <a:r>
              <a:rPr lang="en-JM" dirty="0" smtClean="0"/>
              <a:t>“A </a:t>
            </a:r>
            <a:r>
              <a:rPr lang="en-JM" dirty="0" err="1" smtClean="0"/>
              <a:t>ver</a:t>
            </a:r>
            <a:r>
              <a:rPr lang="en-JM" dirty="0" smtClean="0"/>
              <a:t>” + </a:t>
            </a:r>
            <a:r>
              <a:rPr lang="en-JM" dirty="0" err="1" smtClean="0"/>
              <a:t>pregunta</a:t>
            </a:r>
            <a:r>
              <a:rPr lang="en-JM" dirty="0" smtClean="0"/>
              <a:t>  = </a:t>
            </a:r>
            <a:r>
              <a:rPr lang="en-JM" dirty="0" err="1" smtClean="0"/>
              <a:t>respuesta</a:t>
            </a:r>
            <a:r>
              <a:rPr lang="en-JM" dirty="0" smtClean="0"/>
              <a:t> de </a:t>
            </a:r>
            <a:r>
              <a:rPr lang="en-JM" dirty="0" err="1" smtClean="0"/>
              <a:t>una</a:t>
            </a:r>
            <a:r>
              <a:rPr lang="en-JM" dirty="0" smtClean="0"/>
              <a:t> palabra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9134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Las Disciplinas </a:t>
            </a:r>
            <a:r>
              <a:rPr lang="es-AR" dirty="0" err="1" smtClean="0"/>
              <a:t>Cientificas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4000" dirty="0" err="1" smtClean="0"/>
              <a:t>Filosofia</a:t>
            </a:r>
            <a:r>
              <a:rPr lang="es-AR" sz="4000" dirty="0" smtClean="0"/>
              <a:t>			Preguntas</a:t>
            </a:r>
            <a:endParaRPr lang="en-JM" sz="4000" dirty="0" smtClean="0"/>
          </a:p>
          <a:p>
            <a:r>
              <a:rPr lang="en-JM" sz="4000" dirty="0" err="1" smtClean="0"/>
              <a:t>Matematicas</a:t>
            </a:r>
            <a:r>
              <a:rPr lang="en-JM" sz="4000" dirty="0" smtClean="0"/>
              <a:t>		</a:t>
            </a:r>
            <a:r>
              <a:rPr lang="en-JM" sz="4000" dirty="0" err="1" smtClean="0"/>
              <a:t>Axiomas</a:t>
            </a:r>
            <a:endParaRPr lang="en-JM" sz="4000" dirty="0" smtClean="0"/>
          </a:p>
          <a:p>
            <a:r>
              <a:rPr lang="en-JM" sz="4000" b="1" dirty="0" err="1" smtClean="0"/>
              <a:t>Fisica</a:t>
            </a:r>
            <a:r>
              <a:rPr lang="en-JM" sz="4000" dirty="0" smtClean="0"/>
              <a:t>				</a:t>
            </a:r>
            <a:r>
              <a:rPr lang="en-JM" sz="4000" b="1" dirty="0" err="1" smtClean="0"/>
              <a:t>Fuerzas</a:t>
            </a:r>
            <a:endParaRPr lang="en-JM" sz="4000" b="1" dirty="0" smtClean="0"/>
          </a:p>
          <a:p>
            <a:r>
              <a:rPr lang="en-JM" sz="4000" dirty="0" err="1" smtClean="0"/>
              <a:t>Quimica</a:t>
            </a:r>
            <a:r>
              <a:rPr lang="en-JM" sz="4000" dirty="0" smtClean="0"/>
              <a:t>			</a:t>
            </a:r>
            <a:r>
              <a:rPr lang="en-JM" sz="4000" dirty="0" err="1" smtClean="0"/>
              <a:t>Moleculas</a:t>
            </a:r>
            <a:endParaRPr lang="en-JM" sz="4000" dirty="0" smtClean="0"/>
          </a:p>
          <a:p>
            <a:r>
              <a:rPr lang="en-JM" sz="4000" dirty="0" err="1" smtClean="0"/>
              <a:t>Biologia</a:t>
            </a:r>
            <a:r>
              <a:rPr lang="en-JM" sz="4000" dirty="0"/>
              <a:t>	</a:t>
            </a:r>
            <a:r>
              <a:rPr lang="en-JM" sz="4000" dirty="0" smtClean="0"/>
              <a:t>		</a:t>
            </a:r>
            <a:r>
              <a:rPr lang="en-JM" sz="4000" dirty="0" err="1" smtClean="0"/>
              <a:t>Celulas</a:t>
            </a:r>
            <a:endParaRPr lang="en-JM" sz="4000" dirty="0" smtClean="0"/>
          </a:p>
          <a:p>
            <a:r>
              <a:rPr lang="en-JM" sz="4000" dirty="0" err="1" smtClean="0"/>
              <a:t>Todo</a:t>
            </a:r>
            <a:r>
              <a:rPr lang="en-JM" sz="4000" dirty="0" smtClean="0"/>
              <a:t> el resto		</a:t>
            </a:r>
            <a:r>
              <a:rPr lang="en-JM" sz="4000" dirty="0" err="1" smtClean="0"/>
              <a:t>Organismos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8773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smtClean="0"/>
              <a:t>Las </a:t>
            </a:r>
            <a:r>
              <a:rPr lang="en-JM" dirty="0" err="1" smtClean="0"/>
              <a:t>Particulas</a:t>
            </a:r>
            <a:r>
              <a:rPr lang="en-JM" dirty="0" smtClean="0"/>
              <a:t> </a:t>
            </a:r>
            <a:r>
              <a:rPr lang="en-JM" dirty="0" err="1" smtClean="0"/>
              <a:t>Subatomicas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439670"/>
              </p:ext>
            </p:extLst>
          </p:nvPr>
        </p:nvGraphicFramePr>
        <p:xfrm>
          <a:off x="467544" y="1988840"/>
          <a:ext cx="8229600" cy="384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61256"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err="1" smtClean="0"/>
                        <a:t>Caracteristica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smtClean="0"/>
                        <a:t>Masa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err="1" smtClean="0"/>
                        <a:t>Carga</a:t>
                      </a:r>
                      <a:endParaRPr lang="en-US" sz="3200" dirty="0"/>
                    </a:p>
                  </a:txBody>
                  <a:tcPr/>
                </a:tc>
              </a:tr>
              <a:tr h="961256"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smtClean="0"/>
                        <a:t>Electron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err="1" smtClean="0"/>
                        <a:t>Poquita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err="1" smtClean="0"/>
                        <a:t>Negativa</a:t>
                      </a:r>
                      <a:endParaRPr lang="en-US" sz="3200" dirty="0"/>
                    </a:p>
                  </a:txBody>
                  <a:tcPr/>
                </a:tc>
              </a:tr>
              <a:tr h="961256"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smtClean="0"/>
                        <a:t>Proton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err="1" smtClean="0"/>
                        <a:t>Mucha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err="1" smtClean="0"/>
                        <a:t>Positiva</a:t>
                      </a:r>
                      <a:endParaRPr lang="en-US" sz="3200" dirty="0"/>
                    </a:p>
                  </a:txBody>
                  <a:tcPr/>
                </a:tc>
              </a:tr>
              <a:tr h="961256"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smtClean="0"/>
                        <a:t>Neutron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err="1" smtClean="0"/>
                        <a:t>Mucha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M" sz="3200" dirty="0" err="1" smtClean="0"/>
                        <a:t>Neutra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38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smtClean="0"/>
              <a:t>Las 4 </a:t>
            </a:r>
            <a:r>
              <a:rPr lang="en-JM" dirty="0" err="1" smtClean="0"/>
              <a:t>Fuerzas</a:t>
            </a:r>
            <a:r>
              <a:rPr lang="en-JM" dirty="0" smtClean="0"/>
              <a:t> – 2 </a:t>
            </a:r>
            <a:r>
              <a:rPr lang="en-JM" dirty="0" err="1" smtClean="0"/>
              <a:t>clasicas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JM" dirty="0" smtClean="0"/>
          </a:p>
          <a:p>
            <a:pPr marL="514350" indent="-514350">
              <a:buFont typeface="+mj-lt"/>
              <a:buAutoNum type="arabicPeriod"/>
            </a:pPr>
            <a:r>
              <a:rPr lang="en-JM" dirty="0" err="1" smtClean="0"/>
              <a:t>Gravitacion</a:t>
            </a:r>
            <a:r>
              <a:rPr lang="en-US" dirty="0"/>
              <a:t>	</a:t>
            </a:r>
            <a:r>
              <a:rPr lang="en-US" dirty="0" smtClean="0"/>
              <a:t>-	“Me </a:t>
            </a:r>
            <a:r>
              <a:rPr lang="en-US" dirty="0" err="1" smtClean="0"/>
              <a:t>gustan</a:t>
            </a:r>
            <a:r>
              <a:rPr lang="en-US" dirty="0" smtClean="0"/>
              <a:t> las </a:t>
            </a:r>
            <a:r>
              <a:rPr lang="en-US" dirty="0" err="1" smtClean="0"/>
              <a:t>gorditas</a:t>
            </a:r>
            <a:r>
              <a:rPr lang="en-US" dirty="0" smtClean="0"/>
              <a:t>”</a:t>
            </a:r>
          </a:p>
          <a:p>
            <a:pPr lvl="3"/>
            <a:r>
              <a:rPr lang="en-JM" dirty="0"/>
              <a:t> </a:t>
            </a:r>
            <a:r>
              <a:rPr lang="en-JM" dirty="0" smtClean="0"/>
              <a:t>A mayor </a:t>
            </a:r>
            <a:r>
              <a:rPr lang="en-JM" b="1" dirty="0" smtClean="0"/>
              <a:t>masa </a:t>
            </a:r>
            <a:r>
              <a:rPr lang="en-JM" dirty="0" smtClean="0"/>
              <a:t>mayor </a:t>
            </a:r>
            <a:r>
              <a:rPr lang="en-JM" dirty="0" err="1" smtClean="0"/>
              <a:t>atraccion</a:t>
            </a:r>
            <a:endParaRPr lang="en-JM" dirty="0" smtClean="0"/>
          </a:p>
          <a:p>
            <a:pPr lvl="3"/>
            <a:endParaRPr lang="en-JM" dirty="0"/>
          </a:p>
          <a:p>
            <a:pPr marL="514350" indent="-514350">
              <a:buFont typeface="+mj-lt"/>
              <a:buAutoNum type="arabicPeriod"/>
            </a:pPr>
            <a:endParaRPr lang="en-JM" dirty="0" smtClean="0"/>
          </a:p>
          <a:p>
            <a:pPr marL="514350" indent="-514350">
              <a:buFont typeface="+mj-lt"/>
              <a:buAutoNum type="arabicPeriod"/>
            </a:pPr>
            <a:endParaRPr lang="en-JM" dirty="0" smtClean="0"/>
          </a:p>
          <a:p>
            <a:pPr marL="514350" indent="-514350">
              <a:buFont typeface="+mj-lt"/>
              <a:buAutoNum type="arabicPeriod"/>
            </a:pPr>
            <a:r>
              <a:rPr lang="en-JM" dirty="0" err="1" smtClean="0"/>
              <a:t>Electromagnetismo</a:t>
            </a:r>
            <a:endParaRPr lang="en-JM" dirty="0" smtClean="0"/>
          </a:p>
          <a:p>
            <a:pPr lvl="3"/>
            <a:r>
              <a:rPr lang="en-JM" dirty="0" smtClean="0"/>
              <a:t>Las </a:t>
            </a:r>
            <a:r>
              <a:rPr lang="en-JM" dirty="0" err="1" smtClean="0"/>
              <a:t>cargas</a:t>
            </a:r>
            <a:r>
              <a:rPr lang="en-JM" dirty="0" smtClean="0"/>
              <a:t> </a:t>
            </a:r>
            <a:r>
              <a:rPr lang="en-JM" dirty="0" err="1" smtClean="0"/>
              <a:t>opuestas</a:t>
            </a:r>
            <a:r>
              <a:rPr lang="en-JM" dirty="0" smtClean="0"/>
              <a:t> se </a:t>
            </a:r>
            <a:r>
              <a:rPr lang="en-JM" dirty="0" err="1" smtClean="0"/>
              <a:t>atraen</a:t>
            </a:r>
            <a:r>
              <a:rPr lang="en-JM" dirty="0" smtClean="0"/>
              <a:t> y las </a:t>
            </a:r>
            <a:r>
              <a:rPr lang="en-JM" dirty="0" err="1" smtClean="0"/>
              <a:t>iguales</a:t>
            </a:r>
            <a:r>
              <a:rPr lang="en-JM" dirty="0" smtClean="0"/>
              <a:t> se </a:t>
            </a:r>
            <a:r>
              <a:rPr lang="en-JM" dirty="0" err="1" smtClean="0"/>
              <a:t>repelen</a:t>
            </a:r>
            <a:endParaRPr lang="en-JM" dirty="0" smtClean="0"/>
          </a:p>
          <a:p>
            <a:pPr lvl="3"/>
            <a:endParaRPr lang="en-JM" dirty="0"/>
          </a:p>
          <a:p>
            <a:pPr lvl="3"/>
            <a:endParaRPr lang="en-JM" dirty="0" smtClean="0"/>
          </a:p>
        </p:txBody>
      </p:sp>
    </p:spTree>
    <p:extLst>
      <p:ext uri="{BB962C8B-B14F-4D97-AF65-F5344CB8AC3E}">
        <p14:creationId xmlns:p14="http://schemas.microsoft.com/office/powerpoint/2010/main" val="371099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smtClean="0"/>
              <a:t>Las 4 </a:t>
            </a:r>
            <a:r>
              <a:rPr lang="en-JM" dirty="0" err="1" smtClean="0"/>
              <a:t>Fuerzas</a:t>
            </a:r>
            <a:r>
              <a:rPr lang="en-JM" dirty="0" smtClean="0"/>
              <a:t> – 2 </a:t>
            </a:r>
            <a:r>
              <a:rPr lang="en-JM" dirty="0" err="1" smtClean="0"/>
              <a:t>nucleares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JM" dirty="0" smtClean="0"/>
          </a:p>
          <a:p>
            <a:pPr marL="514350" indent="-514350">
              <a:buFont typeface="+mj-lt"/>
              <a:buAutoNum type="arabicPeriod"/>
            </a:pPr>
            <a:r>
              <a:rPr lang="en-JM" dirty="0" smtClean="0"/>
              <a:t>La </a:t>
            </a:r>
            <a:r>
              <a:rPr lang="en-JM" dirty="0" err="1" smtClean="0"/>
              <a:t>fuerte</a:t>
            </a:r>
            <a:endParaRPr lang="en-US" dirty="0" smtClean="0"/>
          </a:p>
          <a:p>
            <a:pPr marL="800100" lvl="2" indent="0">
              <a:buNone/>
            </a:pPr>
            <a:r>
              <a:rPr lang="en-US" dirty="0" smtClean="0"/>
              <a:t>Los </a:t>
            </a:r>
            <a:r>
              <a:rPr lang="en-US" dirty="0" err="1" smtClean="0"/>
              <a:t>protones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el </a:t>
            </a:r>
            <a:r>
              <a:rPr lang="en-US" dirty="0" err="1" smtClean="0"/>
              <a:t>nucleo</a:t>
            </a:r>
            <a:r>
              <a:rPr lang="en-US" dirty="0" smtClean="0"/>
              <a:t> del </a:t>
            </a:r>
            <a:r>
              <a:rPr lang="en-US" dirty="0" err="1" smtClean="0"/>
              <a:t>atomo</a:t>
            </a:r>
            <a:r>
              <a:rPr lang="en-US" dirty="0" smtClean="0"/>
              <a:t>, se </a:t>
            </a:r>
            <a:r>
              <a:rPr lang="en-US" dirty="0" err="1" smtClean="0"/>
              <a:t>mantienen</a:t>
            </a:r>
            <a:r>
              <a:rPr lang="en-US" dirty="0" smtClean="0"/>
              <a:t> </a:t>
            </a:r>
            <a:r>
              <a:rPr lang="en-US" dirty="0" err="1" smtClean="0"/>
              <a:t>unidos</a:t>
            </a:r>
            <a:endParaRPr lang="en-JM" dirty="0"/>
          </a:p>
          <a:p>
            <a:pPr marL="514350" indent="-514350">
              <a:buFont typeface="+mj-lt"/>
              <a:buAutoNum type="arabicPeriod"/>
            </a:pPr>
            <a:endParaRPr lang="en-JM" dirty="0" smtClean="0"/>
          </a:p>
          <a:p>
            <a:pPr marL="514350" indent="-514350">
              <a:buFont typeface="+mj-lt"/>
              <a:buAutoNum type="arabicPeriod"/>
            </a:pPr>
            <a:endParaRPr lang="en-JM" dirty="0" smtClean="0"/>
          </a:p>
          <a:p>
            <a:pPr marL="514350" indent="-514350">
              <a:buFont typeface="+mj-lt"/>
              <a:buAutoNum type="arabicPeriod"/>
            </a:pPr>
            <a:r>
              <a:rPr lang="en-JM" dirty="0" smtClean="0"/>
              <a:t>La </a:t>
            </a:r>
            <a:r>
              <a:rPr lang="en-JM" dirty="0" err="1" smtClean="0"/>
              <a:t>debil</a:t>
            </a:r>
            <a:endParaRPr lang="en-JM" dirty="0" smtClean="0"/>
          </a:p>
          <a:p>
            <a:pPr marL="800100" lvl="2" indent="0">
              <a:buNone/>
            </a:pPr>
            <a:r>
              <a:rPr lang="en-JM" dirty="0" smtClean="0"/>
              <a:t>Las </a:t>
            </a:r>
            <a:r>
              <a:rPr lang="en-JM" dirty="0" err="1" smtClean="0"/>
              <a:t>cosas</a:t>
            </a:r>
            <a:r>
              <a:rPr lang="en-JM" dirty="0" smtClean="0"/>
              <a:t> </a:t>
            </a:r>
            <a:r>
              <a:rPr lang="en-JM" dirty="0" err="1" smtClean="0"/>
              <a:t>pueden</a:t>
            </a:r>
            <a:r>
              <a:rPr lang="en-JM" dirty="0" smtClean="0"/>
              <a:t> </a:t>
            </a:r>
            <a:r>
              <a:rPr lang="en-JM" dirty="0" err="1" smtClean="0"/>
              <a:t>cambian</a:t>
            </a:r>
            <a:r>
              <a:rPr lang="en-JM" dirty="0" smtClean="0"/>
              <a:t> </a:t>
            </a:r>
            <a:r>
              <a:rPr lang="en-JM" dirty="0" err="1" smtClean="0"/>
              <a:t>espontaneamente</a:t>
            </a:r>
            <a:endParaRPr lang="en-JM" dirty="0"/>
          </a:p>
          <a:p>
            <a:pPr lvl="3"/>
            <a:endParaRPr lang="en-JM" dirty="0" smtClean="0"/>
          </a:p>
        </p:txBody>
      </p:sp>
    </p:spTree>
    <p:extLst>
      <p:ext uri="{BB962C8B-B14F-4D97-AF65-F5344CB8AC3E}">
        <p14:creationId xmlns:p14="http://schemas.microsoft.com/office/powerpoint/2010/main" val="1242458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smtClean="0"/>
              <a:t>Fin de </a:t>
            </a:r>
            <a:r>
              <a:rPr lang="en-JM" dirty="0" err="1" smtClean="0"/>
              <a:t>Capitulo</a:t>
            </a:r>
            <a:r>
              <a:rPr lang="en-JM" dirty="0" smtClean="0"/>
              <a:t>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JM" dirty="0" smtClean="0"/>
          </a:p>
          <a:p>
            <a:endParaRPr lang="en-JM" dirty="0"/>
          </a:p>
          <a:p>
            <a:endParaRPr lang="en-JM" dirty="0" smtClean="0"/>
          </a:p>
          <a:p>
            <a:pPr marL="0" indent="0" algn="ctr">
              <a:buNone/>
            </a:pPr>
            <a:r>
              <a:rPr lang="en-JM" dirty="0" err="1" smtClean="0"/>
              <a:t>Preguntas</a:t>
            </a:r>
            <a:r>
              <a:rPr lang="en-JM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76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err="1" smtClean="0"/>
              <a:t>Resonancia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JM" sz="4400" dirty="0" smtClean="0"/>
          </a:p>
          <a:p>
            <a:r>
              <a:rPr lang="en-JM" sz="4400" dirty="0" err="1" smtClean="0"/>
              <a:t>Energia</a:t>
            </a:r>
            <a:endParaRPr lang="en-JM" sz="4400" dirty="0" smtClean="0"/>
          </a:p>
          <a:p>
            <a:r>
              <a:rPr lang="en-JM" sz="4400" dirty="0" err="1" smtClean="0"/>
              <a:t>Vibraciones</a:t>
            </a:r>
            <a:endParaRPr lang="en-JM" sz="4400" dirty="0" smtClean="0"/>
          </a:p>
          <a:p>
            <a:pPr lvl="1"/>
            <a:r>
              <a:rPr lang="en-JM" sz="4000" dirty="0" smtClean="0"/>
              <a:t> </a:t>
            </a:r>
            <a:r>
              <a:rPr lang="en-JM" sz="4000" dirty="0" err="1" smtClean="0"/>
              <a:t>Frequencia</a:t>
            </a:r>
            <a:r>
              <a:rPr lang="en-JM" sz="4000" dirty="0" smtClean="0"/>
              <a:t> y </a:t>
            </a:r>
            <a:r>
              <a:rPr lang="en-JM" sz="4000" dirty="0" err="1" smtClean="0"/>
              <a:t>Amplitud</a:t>
            </a:r>
            <a:endParaRPr lang="en-JM" sz="4000" dirty="0" smtClean="0"/>
          </a:p>
          <a:p>
            <a:endParaRPr lang="en-JM" sz="4400" dirty="0" smtClean="0"/>
          </a:p>
          <a:p>
            <a:r>
              <a:rPr lang="en-JM" sz="4400" dirty="0" err="1" smtClean="0"/>
              <a:t>Geometrias</a:t>
            </a:r>
            <a:endParaRPr lang="en-JM" sz="4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1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err="1" smtClean="0"/>
              <a:t>Generos</a:t>
            </a:r>
            <a:r>
              <a:rPr lang="en-JM" dirty="0" smtClean="0"/>
              <a:t> y el BPM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6239648"/>
              </p:ext>
            </p:extLst>
          </p:nvPr>
        </p:nvGraphicFramePr>
        <p:xfrm>
          <a:off x="457200" y="2060850"/>
          <a:ext cx="8229600" cy="410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40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Max</a:t>
                      </a:r>
                      <a:endParaRPr lang="en-US" dirty="0"/>
                    </a:p>
                  </a:txBody>
                  <a:tcPr/>
                </a:tc>
              </a:tr>
              <a:tr h="684076">
                <a:tc>
                  <a:txBody>
                    <a:bodyPr/>
                    <a:lstStyle/>
                    <a:p>
                      <a:r>
                        <a:rPr lang="en-JM" dirty="0" smtClean="0"/>
                        <a:t>House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115</a:t>
                      </a:r>
                      <a:endParaRPr lang="en-US" dirty="0"/>
                    </a:p>
                  </a:txBody>
                  <a:tcPr/>
                </a:tc>
              </a:tr>
              <a:tr h="684076">
                <a:tc>
                  <a:txBody>
                    <a:bodyPr/>
                    <a:lstStyle/>
                    <a:p>
                      <a:r>
                        <a:rPr lang="en-JM" dirty="0" smtClean="0"/>
                        <a:t>Techno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115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125</a:t>
                      </a:r>
                      <a:endParaRPr lang="en-US" dirty="0"/>
                    </a:p>
                  </a:txBody>
                  <a:tcPr/>
                </a:tc>
              </a:tr>
              <a:tr h="684076">
                <a:tc>
                  <a:txBody>
                    <a:bodyPr/>
                    <a:lstStyle/>
                    <a:p>
                      <a:r>
                        <a:rPr lang="en-JM" dirty="0" smtClean="0"/>
                        <a:t>Trance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138</a:t>
                      </a:r>
                      <a:endParaRPr lang="en-US" dirty="0"/>
                    </a:p>
                  </a:txBody>
                  <a:tcPr/>
                </a:tc>
              </a:tr>
              <a:tr h="684076">
                <a:tc>
                  <a:txBody>
                    <a:bodyPr/>
                    <a:lstStyle/>
                    <a:p>
                      <a:r>
                        <a:rPr lang="en-JM" dirty="0" err="1" smtClean="0"/>
                        <a:t>Psytrance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138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150</a:t>
                      </a:r>
                      <a:endParaRPr lang="en-US" dirty="0"/>
                    </a:p>
                  </a:txBody>
                  <a:tcPr/>
                </a:tc>
              </a:tr>
              <a:tr h="684076">
                <a:tc>
                  <a:txBody>
                    <a:bodyPr/>
                    <a:lstStyle/>
                    <a:p>
                      <a:r>
                        <a:rPr lang="en-JM" dirty="0" smtClean="0"/>
                        <a:t>High Tech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150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84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JM" dirty="0" err="1" smtClean="0"/>
              <a:t>Desarrollo</a:t>
            </a:r>
            <a:r>
              <a:rPr lang="en-JM" dirty="0" smtClean="0"/>
              <a:t>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</a:rPr>
                      <m:t>h</m:t>
                    </m:r>
                    <m:r>
                      <a:rPr lang="en-JM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JM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JM" b="0" i="1" smtClean="0">
                            <a:latin typeface="Cambria Math"/>
                          </a:rPr>
                          <m:t>𝑎</m:t>
                        </m:r>
                        <m:r>
                          <a:rPr lang="en-JM" b="0" i="1" smtClean="0">
                            <a:latin typeface="Cambria Math"/>
                            <a:ea typeface="Cambria Math"/>
                          </a:rPr>
                          <m:t>∙</m:t>
                        </m:r>
                        <m:sSup>
                          <m:sSupPr>
                            <m:ctrlPr>
                              <a:rPr lang="en-JM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JM" b="0" i="1" smtClean="0">
                                <a:latin typeface="Cambria Math"/>
                              </a:rPr>
                              <m:t>𝑡</m:t>
                            </m:r>
                          </m:e>
                          <m:sup>
                            <m:r>
                              <a:rPr lang="en-JM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JM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JM" b="0" i="1" dirty="0" smtClean="0">
                    <a:latin typeface="Cambria Math"/>
                  </a:rPr>
                  <a:t>		</a:t>
                </a:r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JM" b="0" i="1" smtClean="0">
                        <a:latin typeface="Cambria Math"/>
                        <a:ea typeface="Cambria Math"/>
                      </a:rPr>
                      <m:t>𝑡</m:t>
                    </m:r>
                    <m:r>
                      <a:rPr lang="en-JM" b="0" i="1" smtClean="0">
                        <a:latin typeface="Cambria Math"/>
                        <a:ea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JM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JM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JM" b="0" i="1" smtClean="0">
                                <a:latin typeface="Cambria Math"/>
                                <a:ea typeface="Cambria Math"/>
                              </a:rPr>
                              <m:t>2∙</m:t>
                            </m:r>
                            <m:r>
                              <a:rPr lang="en-JM" b="0" i="1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</m:num>
                          <m:den>
                            <m:r>
                              <a:rPr lang="en-JM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den>
                        </m:f>
                      </m:e>
                    </m:rad>
                  </m:oMath>
                </a14:m>
                <a:endParaRPr lang="en-JM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</a:rPr>
                      <m:t>𝑓𝑟</m:t>
                    </m:r>
                    <m:r>
                      <a:rPr lang="en-JM" b="0" i="1" smtClean="0"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JM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JM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JM" b="0" i="1" smtClean="0">
                            <a:latin typeface="Cambria Math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JM" b="0" i="1" dirty="0" smtClean="0">
                    <a:latin typeface="Cambria Math"/>
                  </a:rPr>
                  <a:t>		</a:t>
                </a:r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JM" b="0" i="1" smtClean="0">
                        <a:latin typeface="Cambria Math"/>
                        <a:ea typeface="Cambria Math"/>
                      </a:rPr>
                      <m:t>𝑏𝑝𝑚</m:t>
                    </m:r>
                    <m:r>
                      <a:rPr lang="en-JM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JM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JM" b="0" i="1" smtClean="0">
                            <a:latin typeface="Cambria Math"/>
                          </a:rPr>
                          <m:t>60</m:t>
                        </m:r>
                      </m:num>
                      <m:den>
                        <m:r>
                          <a:rPr lang="en-JM" b="0" i="1" smtClean="0">
                            <a:latin typeface="Cambria Math"/>
                          </a:rPr>
                          <m:t>𝑇</m:t>
                        </m:r>
                      </m:den>
                    </m:f>
                  </m:oMath>
                </a14:m>
                <a:endParaRPr lang="en-JM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</a:rPr>
                      <m:t>𝑇</m:t>
                    </m:r>
                    <m:r>
                      <a:rPr lang="en-JM" b="0" i="1" smtClean="0">
                        <a:latin typeface="Cambria Math"/>
                      </a:rPr>
                      <m:t>=2∙</m:t>
                    </m:r>
                    <m:r>
                      <a:rPr lang="en-JM" b="0" i="1" smtClean="0">
                        <a:latin typeface="Cambria Math"/>
                        <a:ea typeface="Cambria Math"/>
                      </a:rPr>
                      <m:t>𝑡</m:t>
                    </m:r>
                  </m:oMath>
                </a14:m>
                <a:endParaRPr lang="en-JM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</a:rPr>
                      <m:t>𝑏𝑝𝑚</m:t>
                    </m:r>
                    <m:r>
                      <a:rPr lang="en-JM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JM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JM" b="0" i="1" smtClean="0">
                            <a:latin typeface="Cambria Math"/>
                          </a:rPr>
                          <m:t>60</m:t>
                        </m:r>
                      </m:num>
                      <m:den>
                        <m:r>
                          <a:rPr lang="en-JM" b="0" i="1" smtClean="0">
                            <a:latin typeface="Cambria Math"/>
                          </a:rPr>
                          <m:t>2</m:t>
                        </m:r>
                        <m:r>
                          <a:rPr lang="en-JM" b="0" i="1" smtClean="0"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JM" b="0" i="1" smtClean="0">
                            <a:latin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JM" dirty="0" smtClean="0"/>
                  <a:t>	</a:t>
                </a:r>
                <a:r>
                  <a:rPr lang="en-JM" b="0" dirty="0" smtClean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JM" b="0" i="1" smtClean="0">
                        <a:latin typeface="Cambria Math"/>
                        <a:ea typeface="Cambria Math"/>
                      </a:rPr>
                      <m:t>𝑡</m:t>
                    </m:r>
                    <m:r>
                      <a:rPr lang="en-JM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JM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JM" b="0" i="1" smtClean="0">
                            <a:latin typeface="Cambria Math"/>
                          </a:rPr>
                          <m:t>30</m:t>
                        </m:r>
                      </m:num>
                      <m:den>
                        <m:r>
                          <a:rPr lang="en-JM" b="0" i="1" smtClean="0">
                            <a:latin typeface="Cambria Math"/>
                          </a:rPr>
                          <m:t>𝑏𝑝𝑚</m:t>
                        </m:r>
                      </m:den>
                    </m:f>
                  </m:oMath>
                </a14:m>
                <a:endParaRPr lang="en-JM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JM" b="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JM" b="0" i="1" dirty="0" smtClean="0">
                            <a:latin typeface="Cambria Math"/>
                          </a:rPr>
                          <m:t>30</m:t>
                        </m:r>
                      </m:num>
                      <m:den>
                        <m:r>
                          <a:rPr lang="en-JM" b="0" i="1" dirty="0" smtClean="0">
                            <a:latin typeface="Cambria Math"/>
                          </a:rPr>
                          <m:t>𝑏𝑝𝑚</m:t>
                        </m:r>
                      </m:den>
                    </m:f>
                    <m:r>
                      <a:rPr lang="en-JM" b="0" i="1" smtClean="0">
                        <a:latin typeface="Cambria Math"/>
                        <a:ea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JM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JM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JM" b="0" i="1" smtClean="0">
                                <a:latin typeface="Cambria Math"/>
                                <a:ea typeface="Cambria Math"/>
                              </a:rPr>
                              <m:t>2∙</m:t>
                            </m:r>
                            <m:r>
                              <a:rPr lang="en-JM" b="0" i="1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</m:num>
                          <m:den>
                            <m:r>
                              <a:rPr lang="en-JM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den>
                        </m:f>
                      </m:e>
                    </m:rad>
                  </m:oMath>
                </a14:m>
                <a:r>
                  <a:rPr lang="en-JM" b="0" dirty="0" smtClean="0">
                    <a:ea typeface="Cambria Math"/>
                  </a:rPr>
                  <a:t>	 </a:t>
                </a:r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JM" b="0" i="1" smtClean="0">
                        <a:latin typeface="Cambria Math"/>
                        <a:ea typeface="Cambria Math"/>
                      </a:rPr>
                      <m:t>h</m:t>
                    </m:r>
                    <m:r>
                      <a:rPr lang="en-JM" b="0" i="1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JM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JM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JM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JM" b="0" i="1" smtClean="0">
                                    <a:latin typeface="Cambria Math"/>
                                    <a:ea typeface="Cambria Math"/>
                                  </a:rPr>
                                  <m:t>30</m:t>
                                </m:r>
                              </m:num>
                              <m:den>
                                <m:r>
                                  <a:rPr lang="en-JM" b="0" i="1" smtClean="0">
                                    <a:latin typeface="Cambria Math"/>
                                    <a:ea typeface="Cambria Math"/>
                                  </a:rPr>
                                  <m:t>𝑏𝑝𝑚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JM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JM" b="0" i="1" smtClean="0">
                        <a:latin typeface="Cambria Math"/>
                        <a:ea typeface="Cambria Math"/>
                      </a:rPr>
                      <m:t>∙</m:t>
                    </m:r>
                    <m:f>
                      <m:fPr>
                        <m:ctrlPr>
                          <a:rPr lang="en-JM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JM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num>
                      <m:den>
                        <m:r>
                          <a:rPr lang="en-JM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98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JM" dirty="0" err="1" smtClean="0"/>
              <a:t>Jodita</a:t>
            </a:r>
            <a:r>
              <a:rPr lang="en-JM" dirty="0" smtClean="0"/>
              <a:t> </a:t>
            </a:r>
            <a:r>
              <a:rPr lang="en-JM" dirty="0" err="1" smtClean="0"/>
              <a:t>en</a:t>
            </a:r>
            <a:r>
              <a:rPr lang="en-JM" dirty="0" smtClean="0"/>
              <a:t> la </a:t>
            </a:r>
            <a:r>
              <a:rPr lang="en-JM" dirty="0" err="1" smtClean="0"/>
              <a:t>tierra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  <a:ea typeface="Cambria Math"/>
                      </a:rPr>
                      <m:t>h</m:t>
                    </m:r>
                    <m:r>
                      <a:rPr lang="en-JM" b="0" i="1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JM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JM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JM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JM" b="0" i="1" smtClean="0">
                                    <a:latin typeface="Cambria Math"/>
                                    <a:ea typeface="Cambria Math"/>
                                  </a:rPr>
                                  <m:t>30</m:t>
                                </m:r>
                              </m:num>
                              <m:den>
                                <m:r>
                                  <a:rPr lang="en-JM" b="0" i="1" smtClean="0">
                                    <a:latin typeface="Cambria Math"/>
                                    <a:ea typeface="Cambria Math"/>
                                  </a:rPr>
                                  <m:t>𝑏𝑝𝑚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JM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JM" b="0" i="1" smtClean="0">
                        <a:latin typeface="Cambria Math"/>
                        <a:ea typeface="Cambria Math"/>
                      </a:rPr>
                      <m:t>∙</m:t>
                    </m:r>
                    <m:f>
                      <m:fPr>
                        <m:ctrlPr>
                          <a:rPr lang="en-JM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JM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num>
                      <m:den>
                        <m:r>
                          <a:rPr lang="en-JM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		</a:t>
                </a:r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</a:rPr>
                      <m:t>𝑎</m:t>
                    </m:r>
                    <m:r>
                      <a:rPr lang="en-JM" b="0" i="1" smtClean="0">
                        <a:latin typeface="Cambria Math"/>
                      </a:rPr>
                      <m:t>=</m:t>
                    </m:r>
                    <m:r>
                      <a:rPr lang="en-JM" b="0" i="1" smtClean="0">
                        <a:latin typeface="Cambria Math"/>
                      </a:rPr>
                      <m:t>𝑔</m:t>
                    </m:r>
                    <m:r>
                      <a:rPr lang="en-JM" b="0" i="1" smtClean="0">
                        <a:latin typeface="Cambria Math"/>
                      </a:rPr>
                      <m:t>ₑ=9.8 </m:t>
                    </m:r>
                    <m:f>
                      <m:fPr>
                        <m:type m:val="skw"/>
                        <m:ctrlPr>
                          <a:rPr lang="en-JM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JM" b="0" i="1" smtClean="0">
                            <a:latin typeface="Cambria Math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JM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JM" b="0" i="1" smtClean="0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JM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977947"/>
              </p:ext>
            </p:extLst>
          </p:nvPr>
        </p:nvGraphicFramePr>
        <p:xfrm>
          <a:off x="539552" y="3284984"/>
          <a:ext cx="7677669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Worksheet" r:id="rId4" imgW="7372527" imgH="1866900" progId="Excel.Sheet.12">
                  <p:embed/>
                </p:oleObj>
              </mc:Choice>
              <mc:Fallback>
                <p:oleObj name="Worksheet" r:id="rId4" imgW="7372527" imgH="1866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9552" y="3284984"/>
                        <a:ext cx="7677669" cy="2016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6526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414999"/>
              </p:ext>
            </p:extLst>
          </p:nvPr>
        </p:nvGraphicFramePr>
        <p:xfrm>
          <a:off x="323528" y="404664"/>
          <a:ext cx="8568952" cy="5976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62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JM" dirty="0" err="1" smtClean="0"/>
              <a:t>Jodita</a:t>
            </a:r>
            <a:r>
              <a:rPr lang="en-JM" dirty="0" smtClean="0"/>
              <a:t> </a:t>
            </a:r>
            <a:r>
              <a:rPr lang="en-JM" dirty="0" err="1" smtClean="0"/>
              <a:t>en</a:t>
            </a:r>
            <a:r>
              <a:rPr lang="en-JM" dirty="0" smtClean="0"/>
              <a:t> </a:t>
            </a:r>
            <a:r>
              <a:rPr lang="en-JM" dirty="0" err="1" smtClean="0"/>
              <a:t>marte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  <a:ea typeface="Cambria Math"/>
                      </a:rPr>
                      <m:t>h</m:t>
                    </m:r>
                    <m:r>
                      <a:rPr lang="en-JM" b="0" i="1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JM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JM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JM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JM" b="0" i="1" smtClean="0">
                                    <a:latin typeface="Cambria Math"/>
                                    <a:ea typeface="Cambria Math"/>
                                  </a:rPr>
                                  <m:t>30</m:t>
                                </m:r>
                              </m:num>
                              <m:den>
                                <m:r>
                                  <a:rPr lang="en-JM" b="0" i="1" smtClean="0">
                                    <a:latin typeface="Cambria Math"/>
                                    <a:ea typeface="Cambria Math"/>
                                  </a:rPr>
                                  <m:t>𝑏𝑝𝑚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JM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JM" b="0" i="1" smtClean="0">
                        <a:latin typeface="Cambria Math"/>
                        <a:ea typeface="Cambria Math"/>
                      </a:rPr>
                      <m:t>∙</m:t>
                    </m:r>
                    <m:f>
                      <m:fPr>
                        <m:ctrlPr>
                          <a:rPr lang="en-JM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JM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num>
                      <m:den>
                        <m:r>
                          <a:rPr lang="en-JM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		</a:t>
                </a:r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</a:rPr>
                      <m:t>𝑎</m:t>
                    </m:r>
                    <m:r>
                      <a:rPr lang="en-JM" b="0" i="1" smtClean="0">
                        <a:latin typeface="Cambria Math"/>
                      </a:rPr>
                      <m:t>=</m:t>
                    </m:r>
                    <m:r>
                      <a:rPr lang="en-JM" b="0" i="1" smtClean="0">
                        <a:latin typeface="Cambria Math"/>
                      </a:rPr>
                      <m:t>𝑔</m:t>
                    </m:r>
                    <m:r>
                      <a:rPr lang="en-JM" b="0" i="1" smtClean="0">
                        <a:latin typeface="Cambria Math"/>
                      </a:rPr>
                      <m:t>ₘ=3.71 </m:t>
                    </m:r>
                    <m:f>
                      <m:fPr>
                        <m:type m:val="skw"/>
                        <m:ctrlPr>
                          <a:rPr lang="en-JM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JM" b="0" i="1" smtClean="0">
                            <a:latin typeface="Cambria Math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JM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JM" b="0" i="1" smtClean="0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JM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290292"/>
            <a:ext cx="737235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1200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smtClean="0"/>
              <a:t>Fin de </a:t>
            </a:r>
            <a:r>
              <a:rPr lang="en-JM" dirty="0" err="1" smtClean="0"/>
              <a:t>Capitulo</a:t>
            </a:r>
            <a:r>
              <a:rPr lang="en-JM" dirty="0" smtClean="0"/>
              <a:t>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JM" dirty="0" smtClean="0"/>
          </a:p>
          <a:p>
            <a:endParaRPr lang="en-JM" dirty="0"/>
          </a:p>
          <a:p>
            <a:endParaRPr lang="en-JM" dirty="0" smtClean="0"/>
          </a:p>
          <a:p>
            <a:pPr marL="0" indent="0" algn="ctr">
              <a:buNone/>
            </a:pPr>
            <a:r>
              <a:rPr lang="en-JM" dirty="0" err="1" smtClean="0"/>
              <a:t>Preguntas</a:t>
            </a:r>
            <a:r>
              <a:rPr lang="en-JM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528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JM" dirty="0" smtClean="0"/>
              <a:t>Como </a:t>
            </a:r>
            <a:r>
              <a:rPr lang="en-JM" dirty="0" err="1" smtClean="0"/>
              <a:t>medir</a:t>
            </a:r>
            <a:r>
              <a:rPr lang="en-JM" dirty="0" smtClean="0"/>
              <a:t> </a:t>
            </a:r>
            <a:r>
              <a:rPr lang="en-JM" dirty="0" err="1" smtClean="0"/>
              <a:t>una</a:t>
            </a:r>
            <a:r>
              <a:rPr lang="en-JM" dirty="0" smtClean="0"/>
              <a:t> fiesta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smtClean="0"/>
              <a:t>La fiesta es subjetiva</a:t>
            </a:r>
          </a:p>
          <a:p>
            <a:endParaRPr lang="es-AR" dirty="0" smtClean="0"/>
          </a:p>
          <a:p>
            <a:r>
              <a:rPr lang="es-AR" dirty="0" smtClean="0"/>
              <a:t>La </a:t>
            </a:r>
            <a:r>
              <a:rPr lang="es-AR" dirty="0" err="1" smtClean="0"/>
              <a:t>fisica</a:t>
            </a:r>
            <a:r>
              <a:rPr lang="es-AR" dirty="0" smtClean="0"/>
              <a:t> es objetiva</a:t>
            </a:r>
          </a:p>
          <a:p>
            <a:endParaRPr lang="es-AR" dirty="0" smtClean="0"/>
          </a:p>
          <a:p>
            <a:r>
              <a:rPr lang="es-AR" dirty="0" smtClean="0"/>
              <a:t>Como hace un ciego para medir una fiesta?</a:t>
            </a:r>
          </a:p>
          <a:p>
            <a:endParaRPr lang="es-AR" dirty="0" smtClean="0"/>
          </a:p>
          <a:p>
            <a:r>
              <a:rPr lang="es-AR" dirty="0" smtClean="0"/>
              <a:t>Como hace un sordo para medir una fiesta?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56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JM" dirty="0" smtClean="0"/>
                  <a:t>El Factor Fiesta (Party Factor </a:t>
                </a:r>
                <a14:m>
                  <m:oMath xmlns:m="http://schemas.openxmlformats.org/officeDocument/2006/math">
                    <m:r>
                      <a:rPr lang="en-JM" i="1" smtClean="0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JM" dirty="0" smtClean="0"/>
                  <a:t>)</a:t>
                </a:r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en-JM" dirty="0" smtClean="0"/>
              </a:p>
              <a:p>
                <a:r>
                  <a:rPr lang="en-JM" dirty="0" smtClean="0"/>
                  <a:t>Buena </a:t>
                </a:r>
                <a:r>
                  <a:rPr lang="en-JM" dirty="0" err="1" smtClean="0"/>
                  <a:t>musica</a:t>
                </a:r>
                <a:r>
                  <a:rPr lang="en-JM" dirty="0" smtClean="0"/>
                  <a:t>, genera </a:t>
                </a:r>
                <a:r>
                  <a:rPr lang="en-JM" dirty="0" err="1" smtClean="0"/>
                  <a:t>baile</a:t>
                </a:r>
                <a:endParaRPr lang="en-JM" dirty="0" smtClean="0"/>
              </a:p>
              <a:p>
                <a:endParaRPr lang="en-JM" dirty="0" smtClean="0"/>
              </a:p>
              <a:p>
                <a:r>
                  <a:rPr lang="en-JM" dirty="0" smtClean="0"/>
                  <a:t>Se </a:t>
                </a:r>
                <a:r>
                  <a:rPr lang="en-JM" dirty="0" err="1" smtClean="0"/>
                  <a:t>baila</a:t>
                </a:r>
                <a:r>
                  <a:rPr lang="en-JM" dirty="0" smtClean="0"/>
                  <a:t> con </a:t>
                </a:r>
                <a:r>
                  <a:rPr lang="en-JM" dirty="0" err="1" smtClean="0"/>
                  <a:t>los</a:t>
                </a:r>
                <a:r>
                  <a:rPr lang="en-JM" dirty="0" smtClean="0"/>
                  <a:t> PIES</a:t>
                </a:r>
              </a:p>
              <a:p>
                <a:endParaRPr lang="en-JM" dirty="0" smtClean="0"/>
              </a:p>
              <a:p>
                <a:r>
                  <a:rPr lang="en-JM" dirty="0" smtClean="0"/>
                  <a:t>El </a:t>
                </a:r>
                <a:r>
                  <a:rPr lang="en-JM" dirty="0" err="1" smtClean="0"/>
                  <a:t>bailarin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i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tiene</a:t>
                </a:r>
                <a:r>
                  <a:rPr lang="en-JM" dirty="0" smtClean="0"/>
                  <a:t> dos pies de </a:t>
                </a:r>
                <a:r>
                  <a:rPr lang="en-JM" dirty="0" err="1" smtClean="0"/>
                  <a:t>tamaño</a:t>
                </a:r>
                <a:r>
                  <a:rPr lang="en-JM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JM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JM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JM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JM" dirty="0" smtClean="0"/>
              </a:p>
              <a:p>
                <a:endParaRPr lang="en-JM" dirty="0" smtClean="0"/>
              </a:p>
              <a:p>
                <a:r>
                  <a:rPr lang="en-JM" dirty="0" err="1" smtClean="0"/>
                  <a:t>Definimos</a:t>
                </a:r>
                <a:r>
                  <a:rPr lang="en-JM" dirty="0" smtClean="0"/>
                  <a:t> </a:t>
                </a:r>
                <a14:m>
                  <m:oMath xmlns:m="http://schemas.openxmlformats.org/officeDocument/2006/math">
                    <m:r>
                      <a:rPr lang="en-JM" i="1" smtClean="0">
                        <a:latin typeface="Cambria Math"/>
                        <a:ea typeface="Cambria Math"/>
                      </a:rPr>
                      <m:t>𝜋</m:t>
                    </m:r>
                    <m:r>
                      <a:rPr lang="en-JM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JM" dirty="0" err="1" smtClean="0"/>
                  <a:t>como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cambio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en</a:t>
                </a:r>
                <a:r>
                  <a:rPr lang="en-JM" dirty="0" smtClean="0"/>
                  <a:t> el </a:t>
                </a:r>
                <a:r>
                  <a:rPr lang="en-JM" dirty="0" err="1" smtClean="0"/>
                  <a:t>contacto</a:t>
                </a:r>
                <a:endParaRPr lang="en-JM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13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JM" dirty="0" err="1" smtClean="0"/>
              <a:t>Pista</a:t>
            </a:r>
            <a:r>
              <a:rPr lang="en-JM" dirty="0" smtClean="0"/>
              <a:t> de </a:t>
            </a:r>
            <a:r>
              <a:rPr lang="en-JM" dirty="0" err="1" smtClean="0"/>
              <a:t>baile</a:t>
            </a:r>
            <a:r>
              <a:rPr lang="en-JM" dirty="0" smtClean="0"/>
              <a:t> – Dance FLOOR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JM" dirty="0" smtClean="0"/>
                  <a:t>Definicion: la </a:t>
                </a:r>
                <a:r>
                  <a:rPr lang="en-JM" dirty="0" err="1" smtClean="0"/>
                  <a:t>funcion</a:t>
                </a:r>
                <a:r>
                  <a:rPr lang="en-JM" dirty="0" smtClean="0"/>
                  <a:t> de </a:t>
                </a:r>
                <a:r>
                  <a:rPr lang="en-JM" dirty="0" err="1" smtClean="0"/>
                  <a:t>contacto</a:t>
                </a:r>
                <a:r>
                  <a:rPr lang="en-JM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JM" b="0" i="0" smtClean="0">
                        <a:latin typeface="Cambria Math"/>
                      </a:rPr>
                      <m:t>c</m:t>
                    </m:r>
                    <m:d>
                      <m:dPr>
                        <m:ctrlPr>
                          <a:rPr lang="en-JM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JM" b="0" i="1" smtClean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endParaRPr lang="en-JM" b="0" dirty="0" smtClean="0"/>
              </a:p>
              <a:p>
                <a:pPr marL="457200" lvl="1" indent="0">
                  <a:buNone/>
                </a:pPr>
                <a:r>
                  <a:rPr lang="en-JM" b="0" dirty="0" smtClean="0"/>
                  <a:t>		</a:t>
                </a:r>
                <a14:m>
                  <m:oMath xmlns:m="http://schemas.openxmlformats.org/officeDocument/2006/math">
                    <m:r>
                      <a:rPr lang="en-JM" b="0" i="1" smtClean="0">
                        <a:latin typeface="Cambria Math"/>
                      </a:rPr>
                      <m:t>𝑐</m:t>
                    </m:r>
                    <m:d>
                      <m:dPr>
                        <m:ctrlPr>
                          <a:rPr lang="en-JM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JM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JM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JM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JM" b="0" i="1" smtClean="0">
                            <a:latin typeface="Cambria Math"/>
                          </a:rPr>
                          <m:t>𝑥</m:t>
                        </m:r>
                        <m:d>
                          <m:dPr>
                            <m:ctrlPr>
                              <a:rPr lang="en-JM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JM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JM" b="0" i="1" smtClean="0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JM" dirty="0" smtClean="0"/>
                  <a:t>	</a:t>
                </a:r>
                <a:r>
                  <a:rPr lang="en-JM" b="0" dirty="0" smtClean="0"/>
                  <a:t>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JM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JM" b="0" i="1" smtClean="0">
                            <a:latin typeface="Cambria Math"/>
                          </a:rPr>
                          <m:t>0,1</m:t>
                        </m:r>
                      </m:e>
                    </m:d>
                  </m:oMath>
                </a14:m>
                <a:endParaRPr lang="en-JM" dirty="0" smtClean="0"/>
              </a:p>
              <a:p>
                <a:pPr lvl="1"/>
                <a:endParaRPr lang="en-JM" dirty="0"/>
              </a:p>
              <a:p>
                <a:r>
                  <a:rPr lang="en-JM" dirty="0" err="1" smtClean="0"/>
                  <a:t>Cada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bailarin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i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tiene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su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funcion</a:t>
                </a:r>
                <a:r>
                  <a:rPr lang="en-JM" dirty="0" smtClean="0"/>
                  <a:t> de </a:t>
                </a:r>
                <a:r>
                  <a:rPr lang="en-JM" dirty="0" err="1" smtClean="0"/>
                  <a:t>contacto</a:t>
                </a:r>
                <a:r>
                  <a:rPr lang="en-JM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JM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JM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JM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JM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JM" b="0" i="1" smtClean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endParaRPr lang="en-JM" dirty="0" smtClean="0"/>
              </a:p>
              <a:p>
                <a:endParaRPr lang="en-JM" dirty="0" smtClean="0"/>
              </a:p>
              <a:p>
                <a:pPr algn="just"/>
                <a:r>
                  <a:rPr lang="en-JM" dirty="0" smtClean="0"/>
                  <a:t>La </a:t>
                </a:r>
                <a:r>
                  <a:rPr lang="en-JM" dirty="0" err="1" smtClean="0"/>
                  <a:t>funcion</a:t>
                </a:r>
                <a:r>
                  <a:rPr lang="en-JM" dirty="0" smtClean="0"/>
                  <a:t> de </a:t>
                </a:r>
                <a:r>
                  <a:rPr lang="en-JM" dirty="0" err="1" smtClean="0"/>
                  <a:t>contacto</a:t>
                </a:r>
                <a:r>
                  <a:rPr lang="en-JM" dirty="0" smtClean="0"/>
                  <a:t> de la fiesta </a:t>
                </a:r>
                <a:r>
                  <a:rPr lang="en-JM" dirty="0" err="1" smtClean="0"/>
                  <a:t>es</a:t>
                </a:r>
                <a:r>
                  <a:rPr lang="en-JM" dirty="0" smtClean="0"/>
                  <a:t> la </a:t>
                </a:r>
                <a:r>
                  <a:rPr lang="en-JM" dirty="0" err="1" smtClean="0"/>
                  <a:t>suma</a:t>
                </a:r>
                <a:r>
                  <a:rPr lang="en-JM" dirty="0" smtClean="0"/>
                  <a:t> de las </a:t>
                </a:r>
                <a:r>
                  <a:rPr lang="en-JM" dirty="0" err="1" smtClean="0"/>
                  <a:t>funciones</a:t>
                </a:r>
                <a:r>
                  <a:rPr lang="en-JM" dirty="0" smtClean="0"/>
                  <a:t> de </a:t>
                </a:r>
                <a:r>
                  <a:rPr lang="en-JM" dirty="0" err="1" smtClean="0"/>
                  <a:t>todos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los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bailarines</a:t>
                </a:r>
                <a:r>
                  <a:rPr lang="en-JM" dirty="0" smtClean="0"/>
                  <a:t>, </a:t>
                </a:r>
                <a:r>
                  <a:rPr lang="en-JM" dirty="0" err="1" smtClean="0"/>
                  <a:t>normalizada</a:t>
                </a:r>
                <a:endParaRPr lang="en-JM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JM" b="0" i="1" smtClean="0">
                          <a:latin typeface="Cambria Math"/>
                        </a:rPr>
                        <m:t>𝑐</m:t>
                      </m:r>
                      <m:r>
                        <a:rPr lang="en-JM" b="0" i="1" smtClean="0">
                          <a:latin typeface="Cambria Math"/>
                        </a:rPr>
                        <m:t>ₚ</m:t>
                      </m:r>
                      <m:d>
                        <m:dPr>
                          <m:ctrlPr>
                            <a:rPr lang="en-JM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JM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JM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JM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JM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JM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JM" b="0" i="1" smtClean="0">
                          <a:latin typeface="Cambria Math"/>
                          <a:ea typeface="Cambria Math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pt-BR" i="1" dirty="0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JM" b="0" i="1" dirty="0" smtClean="0">
                              <a:latin typeface="Cambria Math"/>
                            </a:rPr>
                            <m:t>𝑖</m:t>
                          </m:r>
                          <m:r>
                            <a:rPr lang="en-JM" b="0" i="1" dirty="0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JM" b="0" i="1" dirty="0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JM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JM" b="0" i="1" smtClean="0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JM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JM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JM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JM" b="0" i="1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JM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JM" b="0" i="1" dirty="0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JM" b="0" i="1" dirty="0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JM" b="0" i="1" dirty="0" smtClean="0">
                          <a:latin typeface="Cambria Math"/>
                          <a:ea typeface="Cambria Math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pt-BR" i="1" dirty="0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JM" b="0" i="1" dirty="0" smtClean="0">
                              <a:latin typeface="Cambria Math"/>
                            </a:rPr>
                            <m:t>𝑖</m:t>
                          </m:r>
                          <m:r>
                            <a:rPr lang="en-JM" b="0" i="1" dirty="0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JM" b="0" i="1" dirty="0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JM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JM" b="0" i="1" smtClean="0">
                                  <a:latin typeface="Cambria Math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JM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JM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JM" b="0" i="1" smtClean="0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JM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504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545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JM" dirty="0" err="1" smtClean="0"/>
              <a:t>Pista</a:t>
            </a:r>
            <a:r>
              <a:rPr lang="en-JM" dirty="0" smtClean="0"/>
              <a:t> de </a:t>
            </a:r>
            <a:r>
              <a:rPr lang="en-JM" dirty="0" err="1" smtClean="0"/>
              <a:t>baile</a:t>
            </a:r>
            <a:r>
              <a:rPr lang="en-JM" dirty="0" smtClean="0"/>
              <a:t> – Dance FLOOR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JM" dirty="0" smtClean="0"/>
                  <a:t>Definicion: la </a:t>
                </a:r>
                <a:r>
                  <a:rPr lang="en-JM" dirty="0" err="1" smtClean="0"/>
                  <a:t>funcion</a:t>
                </a:r>
                <a:r>
                  <a:rPr lang="en-JM" dirty="0" smtClean="0"/>
                  <a:t> de </a:t>
                </a:r>
                <a:r>
                  <a:rPr lang="en-JM" dirty="0" err="1" smtClean="0"/>
                  <a:t>biale</a:t>
                </a:r>
                <a14:m>
                  <m:oMath xmlns:m="http://schemas.openxmlformats.org/officeDocument/2006/math">
                    <m:r>
                      <a:rPr lang="en-JM" b="0" i="0" smtClean="0">
                        <a:latin typeface="Cambria Math"/>
                      </a:rPr>
                      <m:t> </m:t>
                    </m:r>
                    <m:r>
                      <a:rPr lang="en-JM" b="0" i="1" smtClean="0">
                        <a:latin typeface="Cambria Math"/>
                      </a:rPr>
                      <m:t>𝑑</m:t>
                    </m:r>
                    <m:d>
                      <m:dPr>
                        <m:ctrlPr>
                          <a:rPr lang="en-JM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JM" b="0" i="1" smtClean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endParaRPr lang="en-JM" b="0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JM" b="0" i="1" smtClean="0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JM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JM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JM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JM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JM" b="0" i="1" dirty="0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JM" b="0" i="1" dirty="0" smtClean="0"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  <m:r>
                                <a:rPr lang="en-JM" b="0" i="1" dirty="0" smtClean="0">
                                  <a:latin typeface="Cambria Math"/>
                                  <a:ea typeface="Cambria Math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en-JM" b="0" i="1" dirty="0" smtClean="0">
                                  <a:latin typeface="Cambria Math"/>
                                  <a:ea typeface="Cambria Math"/>
                                </a:rPr>
                                <m:t>∆</m:t>
                              </m:r>
                              <m:r>
                                <a:rPr lang="en-JM" b="0" i="1" dirty="0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en-JM" b="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JM" b="0" i="1" smtClean="0">
                          <a:latin typeface="Cambria Math"/>
                          <a:ea typeface="Cambria Math"/>
                        </a:rPr>
                        <m:t>𝑑</m:t>
                      </m:r>
                      <m:d>
                        <m:dPr>
                          <m:ctrlPr>
                            <a:rPr lang="en-JM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JM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</m:d>
                      <m:r>
                        <a:rPr lang="en-JM" b="0" i="1" smtClean="0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JM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JM" b="0" i="1" smtClean="0">
                                  <a:latin typeface="Cambria Math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JM" b="0" i="1" smtClean="0">
                                  <a:latin typeface="Cambria Math"/>
                                  <a:ea typeface="Cambria Math"/>
                                </a:rPr>
                                <m:t>𝑐</m:t>
                              </m:r>
                            </m:e>
                          </m:acc>
                          <m:r>
                            <a:rPr lang="en-JM" b="0" i="1" smtClean="0">
                              <a:latin typeface="Cambria Math"/>
                              <a:ea typeface="Cambria Math"/>
                            </a:rPr>
                            <m:t> (</m:t>
                          </m:r>
                          <m:r>
                            <a:rPr lang="en-JM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lang="en-JM" b="0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JM" dirty="0" smtClean="0"/>
                            <m:t> </m:t>
                          </m:r>
                        </m:e>
                      </m:d>
                    </m:oMath>
                  </m:oMathPara>
                </a14:m>
                <a:endParaRPr lang="en-JM" dirty="0"/>
              </a:p>
              <a:p>
                <a:endParaRPr lang="en-JM" dirty="0" smtClean="0"/>
              </a:p>
              <a:p>
                <a:r>
                  <a:rPr lang="en-JM" dirty="0" err="1" smtClean="0"/>
                  <a:t>Propuesta</a:t>
                </a:r>
                <a:r>
                  <a:rPr lang="en-JM" dirty="0" smtClean="0"/>
                  <a:t>: </a:t>
                </a:r>
                <a:r>
                  <a:rPr lang="en-JM" dirty="0" err="1" smtClean="0"/>
                  <a:t>medir</a:t>
                </a:r>
                <a:r>
                  <a:rPr lang="en-JM" dirty="0" smtClean="0"/>
                  <a:t> la fiesta </a:t>
                </a:r>
                <a:r>
                  <a:rPr lang="en-JM" dirty="0" err="1" smtClean="0"/>
                  <a:t>segun</a:t>
                </a:r>
                <a:r>
                  <a:rPr lang="en-JM" dirty="0" smtClean="0"/>
                  <a:t> el </a:t>
                </a:r>
                <a:r>
                  <a:rPr lang="en-JM" dirty="0" err="1" smtClean="0"/>
                  <a:t>cambio</a:t>
                </a:r>
                <a:r>
                  <a:rPr lang="en-JM" dirty="0" smtClean="0"/>
                  <a:t> del </a:t>
                </a:r>
                <a:r>
                  <a:rPr lang="en-JM" dirty="0" err="1" smtClean="0"/>
                  <a:t>contacto</a:t>
                </a:r>
                <a:r>
                  <a:rPr lang="en-JM" dirty="0" smtClean="0"/>
                  <a:t> de </a:t>
                </a:r>
                <a:r>
                  <a:rPr lang="en-JM" dirty="0" err="1" smtClean="0"/>
                  <a:t>los</a:t>
                </a:r>
                <a:r>
                  <a:rPr lang="en-JM" dirty="0" smtClean="0"/>
                  <a:t> pies con el </a:t>
                </a:r>
                <a:r>
                  <a:rPr lang="en-JM" dirty="0" err="1" smtClean="0"/>
                  <a:t>piso</a:t>
                </a:r>
                <a:r>
                  <a:rPr lang="en-JM" dirty="0" smtClean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JM" b="0" i="1" smtClean="0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JM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JM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JM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JM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JM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JM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JM" b="0" i="1" smtClean="0">
                          <a:latin typeface="Cambria Math"/>
                          <a:ea typeface="Cambria Math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pt-BR" i="1" dirty="0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JM" b="0" i="1" dirty="0" smtClean="0">
                              <a:latin typeface="Cambria Math"/>
                            </a:rPr>
                            <m:t>𝑖</m:t>
                          </m:r>
                          <m:r>
                            <a:rPr lang="en-JM" b="0" i="1" dirty="0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JM" b="0" i="1" dirty="0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JM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JM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JM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JM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JM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JM" b="0" i="1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JM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JM" b="0" i="1" dirty="0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JM" b="0" i="1" dirty="0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JM" b="0" i="1" dirty="0" smtClean="0">
                          <a:latin typeface="Cambria Math"/>
                          <a:ea typeface="Cambria Math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pt-BR" i="1" dirty="0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JM" b="0" i="1" dirty="0" smtClean="0">
                              <a:latin typeface="Cambria Math"/>
                            </a:rPr>
                            <m:t>𝑖</m:t>
                          </m:r>
                          <m:r>
                            <a:rPr lang="en-JM" b="0" i="1" dirty="0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JM" b="0" i="1" dirty="0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acc>
                            <m:accPr>
                              <m:chr m:val="̇"/>
                              <m:ctrlPr>
                                <a:rPr lang="en-JM" b="0" i="1" smtClean="0">
                                  <a:latin typeface="Cambria Math"/>
                                  <a:ea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JM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JM" b="0" i="1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JM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JM" b="0" i="1" smtClean="0">
                              <a:latin typeface="Cambria Math"/>
                              <a:ea typeface="Cambria Math"/>
                            </a:rPr>
                            <m:t> (</m:t>
                          </m:r>
                          <m:r>
                            <a:rPr lang="en-JM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lang="en-JM" b="0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JM" dirty="0" smtClean="0"/>
                            <m:t> </m:t>
                          </m:r>
                        </m:e>
                      </m:nary>
                    </m:oMath>
                  </m:oMathPara>
                </a14:m>
                <a:endParaRPr lang="en-JM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695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812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JM" dirty="0" smtClean="0"/>
              <a:t>Ranking de DJ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JM" dirty="0" smtClean="0"/>
                  <a:t>Axioma – la </a:t>
                </a:r>
                <a:r>
                  <a:rPr lang="en-JM" dirty="0" err="1" smtClean="0"/>
                  <a:t>gente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quiere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bailar</a:t>
                </a:r>
                <a:r>
                  <a:rPr lang="en-JM" dirty="0" smtClean="0"/>
                  <a:t>. Si la </a:t>
                </a:r>
                <a:r>
                  <a:rPr lang="en-JM" dirty="0" err="1" smtClean="0"/>
                  <a:t>gente</a:t>
                </a:r>
                <a:r>
                  <a:rPr lang="en-JM" dirty="0" smtClean="0"/>
                  <a:t> no </a:t>
                </a:r>
                <a:r>
                  <a:rPr lang="en-JM" dirty="0" err="1" smtClean="0"/>
                  <a:t>baila</a:t>
                </a:r>
                <a:r>
                  <a:rPr lang="en-JM" dirty="0" smtClean="0"/>
                  <a:t> la culpa </a:t>
                </a:r>
                <a:r>
                  <a:rPr lang="en-JM" dirty="0" err="1" smtClean="0"/>
                  <a:t>es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unica</a:t>
                </a:r>
                <a:r>
                  <a:rPr lang="en-JM" dirty="0" smtClean="0"/>
                  <a:t> y </a:t>
                </a:r>
                <a:r>
                  <a:rPr lang="en-JM" dirty="0" err="1" smtClean="0"/>
                  <a:t>exclusivamente</a:t>
                </a:r>
                <a:r>
                  <a:rPr lang="en-JM" dirty="0" smtClean="0"/>
                  <a:t> del DJ</a:t>
                </a:r>
              </a:p>
              <a:p>
                <a:endParaRPr lang="en-JM" dirty="0" smtClean="0"/>
              </a:p>
              <a:p>
                <a:r>
                  <a:rPr lang="en-JM" dirty="0" smtClean="0"/>
                  <a:t>El DJ </a:t>
                </a:r>
                <a:r>
                  <a:rPr lang="en-JM" dirty="0" err="1" smtClean="0"/>
                  <a:t>es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ranqueado</a:t>
                </a:r>
                <a:r>
                  <a:rPr lang="en-JM" dirty="0" smtClean="0"/>
                  <a:t> </a:t>
                </a:r>
                <a:r>
                  <a:rPr lang="en-JM" dirty="0" err="1" smtClean="0"/>
                  <a:t>en</a:t>
                </a:r>
                <a:r>
                  <a:rPr lang="en-JM" dirty="0" smtClean="0"/>
                  <a:t> base al </a:t>
                </a:r>
                <a:r>
                  <a:rPr lang="en-JM" dirty="0" err="1" smtClean="0"/>
                  <a:t>promedio</a:t>
                </a:r>
                <a:r>
                  <a:rPr lang="en-JM" dirty="0" smtClean="0"/>
                  <a:t> del </a:t>
                </a:r>
                <a:r>
                  <a:rPr lang="en-JM" dirty="0" err="1" smtClean="0"/>
                  <a:t>baile</a:t>
                </a:r>
                <a:r>
                  <a:rPr lang="en-JM" dirty="0" smtClean="0"/>
                  <a:t> que genera </a:t>
                </a:r>
                <a:r>
                  <a:rPr lang="en-JM" dirty="0" err="1" smtClean="0"/>
                  <a:t>su</a:t>
                </a:r>
                <a:r>
                  <a:rPr lang="en-JM" dirty="0" smtClean="0"/>
                  <a:t> set</a:t>
                </a:r>
              </a:p>
              <a:p>
                <a:endParaRPr lang="en-JM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JM" b="0" i="1" smtClean="0">
                          <a:latin typeface="Cambria Math"/>
                        </a:rPr>
                        <m:t>𝐷𝐽</m:t>
                      </m:r>
                      <m:r>
                        <a:rPr lang="en-JM" b="0" i="1" smtClean="0">
                          <a:latin typeface="Cambria Math"/>
                        </a:rPr>
                        <m:t>ₖ=</m:t>
                      </m:r>
                      <m:f>
                        <m:fPr>
                          <m:ctrlPr>
                            <a:rPr lang="en-JM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JM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JM" b="0" i="1" smtClean="0">
                              <a:latin typeface="Cambria Math"/>
                            </a:rPr>
                            <m:t>𝑇</m:t>
                          </m:r>
                        </m:den>
                      </m:f>
                      <m:r>
                        <a:rPr lang="en-JM" b="0" i="1" smtClean="0">
                          <a:latin typeface="Cambria Math"/>
                          <a:ea typeface="Cambria Math"/>
                        </a:rPr>
                        <m:t>∙</m:t>
                      </m:r>
                      <m:nary>
                        <m:naryPr>
                          <m:ctrlPr>
                            <a:rPr lang="en-JM" b="0" i="1" smtClean="0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JM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lang="en-JM" b="0" i="1" smtClean="0">
                              <a:latin typeface="Cambria Math"/>
                              <a:ea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JM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</m:sup>
                        <m:e>
                          <m:r>
                            <a:rPr lang="en-JM" b="0" i="1" smtClean="0">
                              <a:latin typeface="Cambria Math"/>
                              <a:ea typeface="Cambria Math"/>
                            </a:rPr>
                            <m:t>𝑑</m:t>
                          </m:r>
                          <m:d>
                            <m:dPr>
                              <m:ctrlPr>
                                <a:rPr lang="en-JM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JM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JM" b="0" i="1" smtClean="0">
                          <a:latin typeface="Cambria Math"/>
                          <a:ea typeface="Cambria Math"/>
                        </a:rPr>
                        <m:t>  </m:t>
                      </m:r>
                      <m:r>
                        <a:rPr lang="en-JM" b="0" i="1" smtClean="0">
                          <a:latin typeface="Cambria Math"/>
                          <a:ea typeface="Cambria Math"/>
                        </a:rPr>
                        <m:t>𝑑𝑡</m:t>
                      </m:r>
                    </m:oMath>
                  </m:oMathPara>
                </a14:m>
                <a:endParaRPr lang="en-JM" dirty="0" smtClean="0"/>
              </a:p>
              <a:p>
                <a:endParaRPr lang="en-JM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868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smtClean="0"/>
              <a:t>El DJ </a:t>
            </a:r>
            <a:r>
              <a:rPr lang="en-JM" dirty="0" err="1" smtClean="0"/>
              <a:t>es</a:t>
            </a:r>
            <a:r>
              <a:rPr lang="en-JM" dirty="0" smtClean="0"/>
              <a:t> </a:t>
            </a:r>
            <a:r>
              <a:rPr lang="en-JM" dirty="0" err="1" smtClean="0"/>
              <a:t>responsable</a:t>
            </a:r>
            <a:r>
              <a:rPr lang="en-JM" dirty="0" smtClean="0"/>
              <a:t> </a:t>
            </a:r>
            <a:r>
              <a:rPr lang="en-JM" dirty="0" err="1" smtClean="0"/>
              <a:t>por</a:t>
            </a:r>
            <a:r>
              <a:rPr lang="en-JM" dirty="0" smtClean="0"/>
              <a:t> la fiesta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JM" b="0" i="1" smtClean="0">
                          <a:latin typeface="Cambria Math"/>
                        </a:rPr>
                        <m:t>𝐷𝐽</m:t>
                      </m:r>
                      <m:r>
                        <a:rPr lang="en-JM" b="0" i="1" smtClean="0">
                          <a:latin typeface="Cambria Math"/>
                        </a:rPr>
                        <m:t>ₖ=</m:t>
                      </m:r>
                      <m:r>
                        <a:rPr lang="en-JM" b="0" i="1" smtClean="0"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JM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8151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smtClean="0"/>
              <a:t>Fin de parte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JM" dirty="0" smtClean="0"/>
          </a:p>
          <a:p>
            <a:endParaRPr lang="en-JM" dirty="0"/>
          </a:p>
          <a:p>
            <a:endParaRPr lang="en-JM" dirty="0" smtClean="0"/>
          </a:p>
          <a:p>
            <a:pPr marL="0" indent="0" algn="ctr">
              <a:buNone/>
            </a:pPr>
            <a:r>
              <a:rPr lang="en-JM" dirty="0" err="1" smtClean="0"/>
              <a:t>Preguntas</a:t>
            </a:r>
            <a:r>
              <a:rPr lang="en-JM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46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err="1" smtClean="0"/>
              <a:t>Apendice</a:t>
            </a:r>
            <a:r>
              <a:rPr lang="en-JM" dirty="0" smtClean="0"/>
              <a:t> 1 – </a:t>
            </a:r>
            <a:r>
              <a:rPr lang="en-JM" dirty="0" err="1" smtClean="0"/>
              <a:t>Tipos</a:t>
            </a:r>
            <a:r>
              <a:rPr lang="en-JM" dirty="0" smtClean="0"/>
              <a:t> de </a:t>
            </a:r>
            <a:r>
              <a:rPr lang="en-JM" dirty="0" err="1" smtClean="0"/>
              <a:t>baile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964330"/>
              </p:ext>
            </p:extLst>
          </p:nvPr>
        </p:nvGraphicFramePr>
        <p:xfrm>
          <a:off x="283423" y="1782683"/>
          <a:ext cx="8229600" cy="2100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3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BPM </a:t>
                      </a:r>
                      <a:r>
                        <a:rPr lang="en-JM" dirty="0" err="1" smtClean="0"/>
                        <a:t>minimo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Dance Factor</a:t>
                      </a:r>
                      <a:endParaRPr lang="en-US" dirty="0"/>
                    </a:p>
                  </a:txBody>
                  <a:tcPr/>
                </a:tc>
              </a:tr>
              <a:tr h="342301">
                <a:tc>
                  <a:txBody>
                    <a:bodyPr/>
                    <a:lstStyle/>
                    <a:p>
                      <a:r>
                        <a:rPr lang="en-JM" dirty="0" smtClean="0"/>
                        <a:t>Dos Pies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42301">
                <a:tc>
                  <a:txBody>
                    <a:bodyPr/>
                    <a:lstStyle/>
                    <a:p>
                      <a:r>
                        <a:rPr lang="en-JM" dirty="0" smtClean="0"/>
                        <a:t>Pie</a:t>
                      </a:r>
                      <a:r>
                        <a:rPr lang="en-JM" baseline="0" dirty="0" smtClean="0"/>
                        <a:t> y </a:t>
                      </a:r>
                      <a:r>
                        <a:rPr lang="en-JM" baseline="0" dirty="0" err="1" smtClean="0"/>
                        <a:t>medio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0.3</a:t>
                      </a:r>
                      <a:endParaRPr lang="en-US" dirty="0"/>
                    </a:p>
                  </a:txBody>
                  <a:tcPr/>
                </a:tc>
              </a:tr>
              <a:tr h="34230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dirty="0" smtClean="0"/>
                        <a:t>Un Pie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135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0.5</a:t>
                      </a:r>
                      <a:endParaRPr lang="en-US" dirty="0"/>
                    </a:p>
                  </a:txBody>
                  <a:tcPr/>
                </a:tc>
              </a:tr>
              <a:tr h="637152">
                <a:tc>
                  <a:txBody>
                    <a:bodyPr/>
                    <a:lstStyle/>
                    <a:p>
                      <a:r>
                        <a:rPr lang="en-JM" dirty="0" smtClean="0"/>
                        <a:t>Sin</a:t>
                      </a:r>
                      <a:r>
                        <a:rPr lang="en-JM" baseline="0" dirty="0" smtClean="0"/>
                        <a:t> Pies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145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JM" dirty="0" smtClean="0"/>
                        <a:t>0.8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479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M" dirty="0" err="1" smtClean="0"/>
              <a:t>Apendice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JM" dirty="0" err="1" smtClean="0"/>
              <a:t>Distintos</a:t>
            </a:r>
            <a:r>
              <a:rPr lang="en-JM" dirty="0" smtClean="0"/>
              <a:t> </a:t>
            </a:r>
            <a:r>
              <a:rPr lang="en-JM" dirty="0" err="1" smtClean="0"/>
              <a:t>generos</a:t>
            </a:r>
            <a:r>
              <a:rPr lang="en-JM" dirty="0" smtClean="0"/>
              <a:t> </a:t>
            </a:r>
            <a:r>
              <a:rPr lang="en-JM" dirty="0" err="1" smtClean="0"/>
              <a:t>existen</a:t>
            </a:r>
            <a:r>
              <a:rPr lang="en-JM" dirty="0" smtClean="0"/>
              <a:t> </a:t>
            </a:r>
            <a:r>
              <a:rPr lang="en-JM" dirty="0" err="1" smtClean="0"/>
              <a:t>en</a:t>
            </a:r>
            <a:r>
              <a:rPr lang="en-JM" dirty="0" smtClean="0"/>
              <a:t> </a:t>
            </a:r>
            <a:r>
              <a:rPr lang="en-JM" dirty="0" err="1" smtClean="0"/>
              <a:t>distintos</a:t>
            </a:r>
            <a:r>
              <a:rPr lang="en-JM" dirty="0" smtClean="0"/>
              <a:t> </a:t>
            </a:r>
            <a:r>
              <a:rPr lang="en-JM" dirty="0" err="1" smtClean="0"/>
              <a:t>rangos</a:t>
            </a:r>
            <a:r>
              <a:rPr lang="en-JM" dirty="0" smtClean="0"/>
              <a:t> de party factor: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329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519</Words>
  <Application>Microsoft Office PowerPoint</Application>
  <PresentationFormat>On-screen Show (4:3)</PresentationFormat>
  <Paragraphs>164</Paragraphs>
  <Slides>24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Office Theme</vt:lpstr>
      <vt:lpstr>Microsoft Excel Worksheet</vt:lpstr>
      <vt:lpstr>Fisica Popular  Para Fiestas </vt:lpstr>
      <vt:lpstr>Quien soy</vt:lpstr>
      <vt:lpstr>De que voy a hablar?</vt:lpstr>
      <vt:lpstr>Las Disciplinas Cientificas</vt:lpstr>
      <vt:lpstr>Las Particulas Subatomicas</vt:lpstr>
      <vt:lpstr>Las 4 Fuerzas – 2 clasicas</vt:lpstr>
      <vt:lpstr>Las 4 Fuerzas – 2 nucleares</vt:lpstr>
      <vt:lpstr>Fin de Capitulo 1</vt:lpstr>
      <vt:lpstr>Resonancia</vt:lpstr>
      <vt:lpstr>Generos y el BPM</vt:lpstr>
      <vt:lpstr>Desarrollo </vt:lpstr>
      <vt:lpstr>Jodita en la tierra</vt:lpstr>
      <vt:lpstr>PowerPoint Presentation</vt:lpstr>
      <vt:lpstr>Jodita en marte</vt:lpstr>
      <vt:lpstr>Fin de Capitulo 2</vt:lpstr>
      <vt:lpstr>Como medir una fiesta</vt:lpstr>
      <vt:lpstr>El Factor Fiesta (Party Factor π)</vt:lpstr>
      <vt:lpstr>Pista de baile – Dance FLOOR</vt:lpstr>
      <vt:lpstr>Pista de baile – Dance FLOOR</vt:lpstr>
      <vt:lpstr>Ranking de DJ</vt:lpstr>
      <vt:lpstr>El DJ es responsable por la fiesta</vt:lpstr>
      <vt:lpstr>Fin de parte 3</vt:lpstr>
      <vt:lpstr>Apendice 1 – Tipos de baile</vt:lpstr>
      <vt:lpstr>Apendice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Fisica Popular</dc:title>
  <dc:creator>matigurten</dc:creator>
  <cp:lastModifiedBy>matigurten</cp:lastModifiedBy>
  <cp:revision>26</cp:revision>
  <dcterms:created xsi:type="dcterms:W3CDTF">2024-09-23T10:19:37Z</dcterms:created>
  <dcterms:modified xsi:type="dcterms:W3CDTF">2024-09-23T19:30:25Z</dcterms:modified>
</cp:coreProperties>
</file>